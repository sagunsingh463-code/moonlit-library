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Moonlit Strategy &amp; Corporate Finance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MBA Lecture Notes — Prof. Seraphina Moon</a:t>
            </a:r>
          </a:p>
          <a:p>
            <a:r>
              <a:t>Autumn Term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Valuation Methodologies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corporate valuation frameworks under uncertainty:</a:t>
            </a:r>
          </a:p>
          <a:p>
            <a:pPr/>
            <a:r>
              <a:t>• Discounted Cash Flow (DCF): Free cash flows projected across 5–10 years.</a:t>
            </a:r>
          </a:p>
          <a:p>
            <a:pPr/>
            <a:r>
              <a:t>• Weighted Average Cost of Capital (WACC): Blended cost of equity and debt.</a:t>
            </a:r>
          </a:p>
          <a:p>
            <a:pPr/>
            <a:r>
              <a:t>• Comparable Company Analysis (Trading Multiples): EV/EBITDA, P/E ratios.</a:t>
            </a:r>
          </a:p>
          <a:p>
            <a:pPr/>
            <a:r>
              <a:t>• Precedent Transactions: M&amp;A transaction premia and synergy realization.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Strategic Market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Frameworks for scaling digital and platform businesses:</a:t>
            </a:r>
          </a:p>
          <a:p>
            <a:pPr/>
            <a:r>
              <a:t>✦ Ansoff Matrix: Market penetration vs. diversification strategies.</a:t>
            </a:r>
          </a:p>
          <a:p>
            <a:pPr/>
            <a:r>
              <a:t>✦ Network Effects: Direct and two-sided liquidity loops.</a:t>
            </a:r>
          </a:p>
          <a:p>
            <a:pPr/>
            <a:r>
              <a:t>✦ Customer Lifetime Value (LTV / CAC ratio &gt; 3.0x threshold).</a:t>
            </a:r>
          </a:p>
          <a:p>
            <a:pPr/>
            <a:r>
              <a:t>✦ Retention &amp; Churn Dynamics: Net Revenue Retention (NRR) benchmarks.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Executive Summary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milestones before the board presentation:</a:t>
            </a:r>
          </a:p>
          <a:p>
            <a:pPr/>
            <a:r>
              <a:t>✔ Finalize DCF sensitivity table with ±50 bps WACC variation.</a:t>
            </a:r>
          </a:p>
          <a:p>
            <a:pPr/>
            <a:r>
              <a:t>✔ Complete peer benchmarking deck across high-growth competitors.</a:t>
            </a:r>
          </a:p>
          <a:p>
            <a:pPr/>
            <a:r>
              <a:t>✔ Prepare board resolution draft for Q4 capital allocation.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